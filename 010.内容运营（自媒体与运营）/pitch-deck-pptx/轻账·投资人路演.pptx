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4572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0B500"/>
                </a:solidFill>
                <a:latin typeface="Helvetica Neue"/>
                <a:ea typeface="微软雅黑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1554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D56B"/>
                </a:solidFill>
                <a:latin typeface="Helvetica Neue"/>
                <a:ea typeface="微软雅黑"/>
              </a:rPr>
              <a:t>QingZhang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B500"/>
                </a:solidFill>
                <a:latin typeface="Helvetica Neue"/>
                <a:ea typeface="微软雅黑"/>
              </a:rPr>
              <a:t>SEED ROUND · 2026 · 投资人简报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0" b="1">
                <a:solidFill>
                  <a:srgbClr val="FFFFFF"/>
                </a:solidFill>
                <a:latin typeface="微软雅黑"/>
                <a:ea typeface="微软雅黑"/>
              </a:rPr>
              <a:t>轻账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把记账这件事</a:t>
            </a:r>
            <a:r>
              <a:rPr sz="6400" b="0">
                <a:solidFill>
                  <a:srgbClr val="F0B500"/>
                </a:solidFill>
                <a:latin typeface="微软雅黑"/>
                <a:ea typeface="微软雅黑"/>
              </a:rPr>
              <a:t>  ·  </a:t>
            </a:r>
            <a:r>
              <a:rPr sz="6400" b="1">
                <a:solidFill>
                  <a:srgbClr val="F0B500"/>
                </a:solidFill>
                <a:latin typeface="微软雅黑"/>
                <a:ea typeface="微软雅黑"/>
              </a:rPr>
              <a:t>做得轻一点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A8B0C8"/>
                </a:solidFill>
                <a:latin typeface="微软雅黑"/>
                <a:ea typeface="微软雅黑"/>
              </a:rPr>
              <a:t>三端一体的轻量记账产品 · 服务个人、家庭与小微生意主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A8B0C8"/>
                </a:solidFill>
                <a:latin typeface="微软雅黑"/>
                <a:ea typeface="微软雅黑"/>
              </a:rPr>
              <a:t>共享账本自带裂变 · 月度报表让坚持记账变得可能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solidFill>
            <a:srgbClr val="25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D56B"/>
                </a:solidFill>
                <a:latin typeface="微软雅黑"/>
                <a:ea typeface="微软雅黑"/>
              </a:rPr>
              <a:t>V1.0 已就绪   ·   189 个真实测试用例   ·   4 项目全栈   ·   上线即可用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0B500"/>
                </a:solidFill>
                <a:latin typeface="Helvetica Neue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B0C8"/>
                </a:solidFill>
                <a:latin typeface="Helvetica Neue"/>
                <a:ea typeface="微软雅黑"/>
              </a:rPr>
              <a:t>MARKET · 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记账不是小生意,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>
                <a:solidFill>
                  <a:srgbClr val="FFFFFF"/>
                </a:solidFill>
                <a:latin typeface="微软雅黑"/>
                <a:ea typeface="微软雅黑"/>
              </a:rPr>
              <a:t>是一个</a:t>
            </a:r>
            <a:r>
              <a:rPr sz="4400" b="1">
                <a:solidFill>
                  <a:srgbClr val="E63946"/>
                </a:solidFill>
                <a:latin typeface="微软雅黑"/>
                <a:ea typeface="微软雅黑"/>
              </a:rPr>
              <a:t>被做坏了</a:t>
            </a:r>
            <a:r>
              <a:rPr sz="4400" b="0">
                <a:solidFill>
                  <a:srgbClr val="FFFFFF"/>
                </a:solidFill>
                <a:latin typeface="微软雅黑"/>
                <a:ea typeface="微软雅黑"/>
              </a:rPr>
              <a:t>的大赛道。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A8B0C8"/>
                </a:solidFill>
                <a:latin typeface="微软雅黑"/>
                <a:ea typeface="微软雅黑"/>
              </a:rPr>
              <a:t>存量产品功能堆叠,劝退普通人。轻账只做一件事 — 让记账轻到 30 秒搞定,坚持下来。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3657600" cy="246888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3657600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0B500"/>
                </a:solidFill>
                <a:latin typeface="Helvetica Neue"/>
                <a:ea typeface="微软雅黑"/>
              </a:rPr>
              <a:t>3.2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中国记账 App 潜在用户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25-40 岁城市人群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91840"/>
            <a:ext cx="3657600" cy="246888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291840"/>
            <a:ext cx="3657600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6576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0B500"/>
                </a:solidFill>
                <a:latin typeface="Helvetica Neue"/>
                <a:ea typeface="微软雅黑"/>
              </a:rPr>
              <a:t>¥86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800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付费会员 ARPU 测算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166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年付中位价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291840"/>
            <a:ext cx="3657600" cy="246888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291840"/>
            <a:ext cx="3657600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6576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0B500"/>
                </a:solidFill>
                <a:latin typeface="Helvetica Neue"/>
                <a:ea typeface="微软雅黑"/>
              </a:rP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00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渗透率年增长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消费降级 + 财务焦虑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D56B"/>
                </a:solidFill>
                <a:latin typeface="微软雅黑"/>
                <a:ea typeface="微软雅黑"/>
              </a:rPr>
              <a:t>三类用户被现有产品劝退过:城市白领 / 情侣家庭 / 个体户 — 我们全都要。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07898"/>
                </a:solidFill>
                <a:latin typeface="微软雅黑"/>
                <a:ea typeface="微软雅黑"/>
              </a:rPr>
              <a:t>轻账 QingZhang · 投资人简报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0B500"/>
                </a:solidFill>
                <a:latin typeface="Helvetica Neue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B0C8"/>
                </a:solidFill>
                <a:latin typeface="Helvetica Neue"/>
                <a:ea typeface="微软雅黑"/>
              </a:rPr>
              <a:t>MOAT · 差异化护城河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共享账本 + 生意账本 = </a:t>
            </a:r>
            <a:r>
              <a:rPr sz="4000" b="1">
                <a:solidFill>
                  <a:srgbClr val="F0B500"/>
                </a:solidFill>
                <a:latin typeface="微软雅黑"/>
                <a:ea typeface="微软雅黑"/>
              </a:rPr>
              <a:t>自带裂变</a:t>
            </a: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 的护城河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0C8"/>
                </a:solidFill>
                <a:latin typeface="微软雅黑"/>
                <a:ea typeface="微软雅黑"/>
              </a:rPr>
              <a:t>抄得了功能,抄不了共享账本里的关系链。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73152" cy="1874519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F0B500"/>
                </a:solidFill>
                <a:latin typeface="Helvetica Neue"/>
                <a:ea typeface="微软雅黑"/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243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共享账本(网络效应)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632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B0C8"/>
                </a:solidFill>
                <a:latin typeface="微软雅黑"/>
                <a:ea typeface="微软雅黑"/>
              </a:rPr>
              <a:t>一个人记账只是工具,两个人一起记账就是社交关系。每位用户最多邀请 10 位成员。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3886199"/>
            <a:ext cx="4160520" cy="91440"/>
          </a:xfrm>
          <a:prstGeom prst="rect">
            <a:avLst/>
          </a:prstGeom>
          <a:solidFill>
            <a:srgbClr val="2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3886199"/>
            <a:ext cx="1248156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79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邀请接受率 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23160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423160"/>
            <a:ext cx="73152" cy="1874519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F0B500"/>
                </a:solidFill>
                <a:latin typeface="Helvetica Neue"/>
                <a:ea typeface="微软雅黑"/>
              </a:rP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6243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生意账本(B 端变现)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0632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B0C8"/>
                </a:solidFill>
                <a:latin typeface="微软雅黑"/>
                <a:ea typeface="微软雅黑"/>
              </a:rPr>
              <a:t>个体户、夫妻店、工作室 — 把生意账与家用账分开,直接命中夫妻店月对账刚性场景。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886199"/>
            <a:ext cx="4160520" cy="91440"/>
          </a:xfrm>
          <a:prstGeom prst="rect">
            <a:avLst/>
          </a:prstGeom>
          <a:solidFill>
            <a:srgbClr val="2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3886199"/>
            <a:ext cx="3120390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840479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付费意愿 75%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39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39"/>
            <a:ext cx="73152" cy="1874519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99431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F0B500"/>
                </a:solidFill>
                <a:latin typeface="Helvetica Neue"/>
                <a:ea typeface="微软雅黑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3600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30 秒快速记账(留存)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74919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B0C8"/>
                </a:solidFill>
                <a:latin typeface="微软雅黑"/>
                <a:ea typeface="微软雅黑"/>
              </a:rPr>
              <a:t>业内最快的记账流程:选账户 → 选分类 → 输入金额 → 保存。无任何冗余步骤。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5897878"/>
            <a:ext cx="4160520" cy="91440"/>
          </a:xfrm>
          <a:prstGeom prst="rect">
            <a:avLst/>
          </a:prstGeom>
          <a:solidFill>
            <a:srgbClr val="2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8760" y="5897878"/>
            <a:ext cx="1664208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585215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次日留存 40%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434839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434839"/>
            <a:ext cx="73152" cy="1874519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99431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F0B500"/>
                </a:solidFill>
                <a:latin typeface="Helvetica Neue"/>
                <a:ea typeface="微软雅黑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3600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月度报表(留存)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074919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B0C8"/>
                </a:solidFill>
                <a:latin typeface="微软雅黑"/>
                <a:ea typeface="微软雅黑"/>
              </a:rPr>
              <a:t>饼图 + 排行 + 年度趋势 — 让记账成果"看得见",这是坚持记账的核心动力。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5897878"/>
            <a:ext cx="4160520" cy="91440"/>
          </a:xfrm>
          <a:prstGeom prst="rect">
            <a:avLst/>
          </a:prstGeom>
          <a:solidFill>
            <a:srgbClr val="2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78040" y="5897878"/>
            <a:ext cx="1040130" cy="9144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585215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7 日留存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07898"/>
                </a:solidFill>
                <a:latin typeface="微软雅黑"/>
                <a:ea typeface="微软雅黑"/>
              </a:rPr>
              <a:t>轻账 QingZhang · 投资人简报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0B500"/>
                </a:solidFill>
                <a:latin typeface="Helvetica Neue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B0C8"/>
                </a:solidFill>
                <a:latin typeface="Helvetica Neue"/>
                <a:ea typeface="微软雅黑"/>
              </a:rPr>
              <a:t>PROGRESS · 进度与数据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V1.0 已就绪,</a:t>
            </a:r>
            <a:r>
              <a:rPr sz="4000" b="1">
                <a:solidFill>
                  <a:srgbClr val="E63946"/>
                </a:solidFill>
                <a:latin typeface="微软雅黑"/>
                <a:ea typeface="微软雅黑"/>
              </a:rPr>
              <a:t>不是 PPT 上的产品</a:t>
            </a: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0C8"/>
                </a:solidFill>
                <a:latin typeface="微软雅黑"/>
                <a:ea typeface="微软雅黑"/>
              </a:rPr>
              <a:t>工程严谨度 = 创业项目的隐形护城河。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71800"/>
            <a:ext cx="365760" cy="54864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0B500"/>
                </a:solidFill>
                <a:latin typeface="Helvetica Neue"/>
                <a:ea typeface="微软雅黑"/>
              </a:rPr>
              <a:t>189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真实测试用例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5120640"/>
            <a:ext cx="1463040" cy="0"/>
          </a:xfrm>
          <a:prstGeom prst="line">
            <a:avLst/>
          </a:prstGeom>
          <a:ln w="9525">
            <a:solidFill>
              <a:srgbClr val="2E3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212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8B0C8"/>
                </a:solidFill>
                <a:latin typeface="微软雅黑"/>
                <a:ea typeface="微软雅黑"/>
              </a:rPr>
              <a:t>全部通过,无任何占位测试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65176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93592" y="2971800"/>
            <a:ext cx="365760" cy="54864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32004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0B500"/>
                </a:solidFill>
                <a:latin typeface="Helvetica Neue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独立可交付项目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0792" y="5120640"/>
            <a:ext cx="1463040" cy="0"/>
          </a:xfrm>
          <a:prstGeom prst="line">
            <a:avLst/>
          </a:prstGeom>
          <a:ln w="9525">
            <a:solidFill>
              <a:srgbClr val="2E3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93592" y="5212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8B0C8"/>
                </a:solidFill>
                <a:latin typeface="微软雅黑"/>
                <a:ea typeface="微软雅黑"/>
              </a:rPr>
              <a:t>Web + App + 后端 + 后台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65176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2971800"/>
            <a:ext cx="365760" cy="54864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32004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0B500"/>
                </a:solidFill>
                <a:latin typeface="Helvetica Neue"/>
                <a:ea typeface="微软雅黑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核心业务错误码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12864" y="5120640"/>
            <a:ext cx="1463040" cy="0"/>
          </a:xfrm>
          <a:prstGeom prst="line">
            <a:avLst/>
          </a:prstGeom>
          <a:ln w="9525">
            <a:solidFill>
              <a:srgbClr val="2E3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55664" y="5212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8B0C8"/>
                </a:solidFill>
                <a:latin typeface="微软雅黑"/>
                <a:ea typeface="微软雅黑"/>
              </a:rPr>
              <a:t>1001/1002/3001-3017/5001-5003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65176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17736" y="2971800"/>
            <a:ext cx="365760" cy="54864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2004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0B500"/>
                </a:solidFill>
                <a:latin typeface="Helvetica Neue"/>
                <a:ea typeface="微软雅黑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交付物完备率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74936" y="5120640"/>
            <a:ext cx="1463040" cy="0"/>
          </a:xfrm>
          <a:prstGeom prst="line">
            <a:avLst/>
          </a:prstGeom>
          <a:ln w="9525">
            <a:solidFill>
              <a:srgbClr val="2E3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17736" y="5212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8B0C8"/>
                </a:solidFill>
                <a:latin typeface="微软雅黑"/>
                <a:ea typeface="微软雅黑"/>
              </a:rPr>
              <a:t>产品说明书 / 运营手册 / 测试报告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D56B"/>
                </a:solidFill>
                <a:latin typeface="微软雅黑"/>
                <a:ea typeface="微软雅黑"/>
              </a:rPr>
              <a:t>我们用同一套测试报告对开发、测试、交付三方负责 — 后端不是 demo。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07898"/>
                </a:solidFill>
                <a:latin typeface="微软雅黑"/>
                <a:ea typeface="微软雅黑"/>
              </a:rPr>
              <a:t>轻账 QingZhang · 投资人简报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0B500"/>
                </a:solidFill>
                <a:latin typeface="Helvetica Neue"/>
                <a:ea typeface="微软雅黑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0B500"/>
                </a:solidFill>
                <a:latin typeface="Helvetica Neue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B0C8"/>
                </a:solidFill>
                <a:latin typeface="Helvetica Neue"/>
                <a:ea typeface="微软雅黑"/>
              </a:rPr>
              <a:t>VISION · 商业模式与融资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先把用户留下来,</a:t>
            </a:r>
            <a:r>
              <a:rPr sz="4000" b="1">
                <a:solidFill>
                  <a:srgbClr val="F0B500"/>
                </a:solidFill>
                <a:latin typeface="微软雅黑"/>
                <a:ea typeface="微软雅黑"/>
              </a:rPr>
              <a:t>再谈钱</a:t>
            </a: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0C8"/>
                </a:solidFill>
                <a:latin typeface="微软雅黑"/>
                <a:ea typeface="微软雅黑"/>
              </a:rPr>
              <a:t>工具型产品的标准路径:用户规模 → 付费转化 → B 端 ARR。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57600" cy="21945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1530"/>
                </a:solidFill>
                <a:latin typeface="Helvetica Neue"/>
                <a:ea typeface="微软雅黑"/>
              </a:rPr>
              <a:t>0 - 3 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种子用户冷启动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10,000 注册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30% 7 日留存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验证留存模型与拉新漏斗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06040"/>
            <a:ext cx="3657600" cy="21945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06040"/>
            <a:ext cx="3657600" cy="36576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1530"/>
                </a:solidFill>
                <a:latin typeface="Helvetica Neue"/>
                <a:ea typeface="微软雅黑"/>
              </a:rPr>
              <a:t>3 - 12 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付费会员 + 共享裂变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¥86 / 年会员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5% 付费转化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共享账本邀请率冲到 40%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606040"/>
            <a:ext cx="3657600" cy="2194560"/>
          </a:xfrm>
          <a:prstGeom prst="roundRect">
            <a:avLst>
              <a:gd name="adj" fmla="val 3000"/>
            </a:avLst>
          </a:prstGeom>
          <a:solidFill>
            <a:srgbClr val="182352"/>
          </a:solidFill>
          <a:ln>
            <a:solidFill>
              <a:srgbClr val="2E3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606040"/>
            <a:ext cx="3657600" cy="3657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1530"/>
                </a:solidFill>
                <a:latin typeface="Helvetica Neue"/>
                <a:ea typeface="微软雅黑"/>
              </a:rPr>
              <a:t>12 - 24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54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B 端生意账本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7033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个体户订阅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行业模板 · 对账咨询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建立 B 端 ARR 第二曲线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82352"/>
          </a:solidFill>
          <a:ln>
            <a:solidFill>
              <a:srgbClr val="F0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37160" cy="1280160"/>
          </a:xfrm>
          <a:prstGeom prst="rect">
            <a:avLst/>
          </a:prstGeom>
          <a:solidFill>
            <a:srgbClr val="F0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本轮融资 </a:t>
            </a:r>
            <a:r>
              <a:rPr sz="3600" b="1">
                <a:solidFill>
                  <a:srgbClr val="F0B500"/>
                </a:solidFill>
                <a:latin typeface="微软雅黑"/>
                <a:ea typeface="微软雅黑"/>
              </a:rPr>
              <a:t>¥800 万</a:t>
            </a:r>
            <a:r>
              <a:rPr sz="1800" b="0">
                <a:solidFill>
                  <a:srgbClr val="FFD56B"/>
                </a:solidFill>
                <a:latin typeface="微软雅黑"/>
                <a:ea typeface="微软雅黑"/>
              </a:rPr>
              <a:t>  ·  Seed 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A8B0C8"/>
                </a:solidFill>
                <a:latin typeface="微软雅黑"/>
                <a:ea typeface="微软雅黑"/>
              </a:rPr>
              <a:t>资金用途 50% 产品迭代(Web/App/后端三端深化)· 35% 用户增长(共享账本裂变 + 内容运营)· 15% 团队扩充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07898"/>
                </a:solidFill>
                <a:latin typeface="微软雅黑"/>
                <a:ea typeface="微软雅黑"/>
              </a:rPr>
              <a:t>轻账 QingZhang · 创始人 / 技术负责人   ·   邮箱 / 微信 请扫码联系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